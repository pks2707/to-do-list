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58A6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BC8C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pPr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Standard for Extended Reality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6576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077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58A6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81328" y="29077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3FB950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29077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22576" y="29077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F0883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322576" y="29077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63824" y="29077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BC8CFF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63824" y="290779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Khronos Group Open Standard  •  Version 1.0+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OpenXR?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</a:rPr>
              <a:t>OpenXR is a royalty-free, open standard API developed by the Khronos Group that provides unified access to VR, AR, and MR hardware.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679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Released: July 2019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3081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Latest: OpenXR 1.1 (2024)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483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Backed by 50+ companies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Replaces proprietary SDKs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206240" cy="35661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42062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The Problem Before OpenXR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719072"/>
            <a:ext cx="3749040" cy="384048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7373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 Oculus SDK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31136"/>
            <a:ext cx="3749040" cy="384048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 OpenVR (Valve)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3749040" cy="384048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7614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 WMR API (Microsoft)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55264"/>
            <a:ext cx="3749040" cy="384048"/>
          </a:xfrm>
          <a:prstGeom prst="rect">
            <a:avLst/>
          </a:prstGeom>
          <a:solidFill>
            <a:srgbClr val="8B949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73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 Proprietary SDKs…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785616"/>
            <a:ext cx="374904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846320" y="38587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→  Separate codebase per platform = huge dev cost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OpenXR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03520" cy="640080"/>
          </a:xfrm>
          <a:prstGeom prst="rect">
            <a:avLst/>
          </a:prstGeom>
          <a:solidFill>
            <a:srgbClr val="3FB950">
              <a:alpha val="3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33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Your XR App / Game 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9933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303520" cy="640080"/>
          </a:xfrm>
          <a:prstGeom prst="rect">
            <a:avLst/>
          </a:prstGeom>
          <a:solidFill>
            <a:srgbClr val="58A6FF">
              <a:alpha val="3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74520"/>
            <a:ext cx="109728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OpenXR LOADER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Discovers &amp; dispatches to runtime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51460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7706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solidFill>
            <a:srgbClr val="BC8CFF">
              <a:alpha val="3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109728" cy="6400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LAYERS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2971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Validation, Debugging, Profiling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29184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5478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5303520" cy="640080"/>
          </a:xfrm>
          <a:prstGeom prst="rect">
            <a:avLst/>
          </a:prstGeom>
          <a:solidFill>
            <a:srgbClr val="F0883E">
              <a:alpha val="3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29000"/>
            <a:ext cx="109728" cy="6400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OpenXR RUNTIME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Vendor implementation (Meta, Valve…)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17520" y="406908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3251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5303520" cy="640080"/>
          </a:xfrm>
          <a:prstGeom prst="rect">
            <a:avLst/>
          </a:prstGeom>
          <a:solidFill>
            <a:srgbClr val="FF6B6B">
              <a:alpha val="3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06240"/>
            <a:ext cx="109728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XR HARDWARE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526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HMD + Controllers + Tracking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1097280"/>
            <a:ext cx="2834640" cy="19202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ENGINES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15087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▸ Unity XR Plugin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18562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▸ Unreal Engine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17920" y="22037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▸ Godot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35040" y="3154680"/>
            <a:ext cx="2834640" cy="16916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1792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RUNTIMES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566160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▸ Meta (Quest)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3877056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▸ SteamVR (Valve)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4187952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▸ WMR (Microsoft)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498848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▸ Varjo / Pico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CORE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Objects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XrInstance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Root OpenXR object. Created once at startup. Ties app to runtime.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118872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9544" y="1188720"/>
            <a:ext cx="27432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46704" y="168249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Represents the physical XR hardware (HMD + tracking + controllers).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9048" y="118872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99048" y="1188720"/>
            <a:ext cx="27432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68249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Manages an XR session lifecycle: IDLE → READY → RUNNING → STOPPING.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27432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71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XrSpace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3697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Coordinate reference frame: LOCAL, STAGE, VIEW, or custom anchor.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9544" y="274320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9544" y="2743200"/>
            <a:ext cx="27432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346704" y="2871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46704" y="323697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Abstract input (button presses, axis values, hand poses, haptics).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9048" y="2743200"/>
            <a:ext cx="2743200" cy="13898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9048" y="274320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871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XrSwapchain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Render-target textures (per-eye images) provided by the runtime.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SESSION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XrSession State Machine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8B949E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024128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270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UNKNOWN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35024" y="1691640"/>
            <a:ext cx="310896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82496" y="141732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BC8CFF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82496" y="1417320"/>
            <a:ext cx="1024128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82496" y="15270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691640"/>
            <a:ext cx="310896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0672" y="141732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F0883E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90672" y="1417320"/>
            <a:ext cx="1024128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3090672" y="15270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51376" y="1691640"/>
            <a:ext cx="310896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98848" y="141732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3FB950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1417320"/>
            <a:ext cx="1024128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152704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10912" y="1965960"/>
            <a:ext cx="0" cy="4572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310896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58A6FF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108960"/>
            <a:ext cx="1024128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2186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3383280"/>
            <a:ext cx="310896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2826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90672" y="310896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FF6B6B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0672" y="3108960"/>
            <a:ext cx="102412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3090672" y="32186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STOPPING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06624" y="3383280"/>
            <a:ext cx="310896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32826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82496" y="3108960"/>
            <a:ext cx="1024128" cy="548640"/>
          </a:xfrm>
          <a:prstGeom prst="roundRect">
            <a:avLst>
              <a:gd name="adj" fmla="val 13333"/>
            </a:avLst>
          </a:prstGeom>
          <a:solidFill>
            <a:srgbClr val="FF6B6B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82496" y="3108960"/>
            <a:ext cx="102412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1682496" y="32186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EXITING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" y="12344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xrCreateSession()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55648" y="12344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xrBeginSession()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63824" y="12344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HMD active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93792" y="2907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xrEndSession()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785616" y="2907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xrDestroySession()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1188720"/>
            <a:ext cx="237744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20840" y="1261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Types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1591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xrPollEvent()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1938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XR_SESSION_STATE_*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2084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xrRequestExitSession()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The session transitions through well-defined states via xrPollEvent(). The app must handle each state change to pause rendering, release resources, and cleanly exit.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RENDER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OpenXR Render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754880" cy="438912"/>
          </a:xfrm>
          <a:prstGeom prst="rect">
            <a:avLst/>
          </a:prstGeom>
          <a:solidFill>
            <a:srgbClr val="58A6FF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43891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xrWaitFrame()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Block until next frame deadline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96896" y="163677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754880" cy="438912"/>
          </a:xfrm>
          <a:prstGeom prst="rect">
            <a:avLst/>
          </a:prstGeom>
          <a:solidFill>
            <a:srgbClr val="3FB950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37360"/>
            <a:ext cx="91440" cy="43891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xrBeginFrame()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9751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Signal start of rendering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96896" y="21854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754880" cy="438912"/>
          </a:xfrm>
          <a:prstGeom prst="rect">
            <a:avLst/>
          </a:prstGeom>
          <a:solidFill>
            <a:srgbClr val="F0883E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91440" cy="43891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042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xrLocateViews()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Get predicted head pose + eye projection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96896" y="27340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754880" cy="438912"/>
          </a:xfrm>
          <a:prstGeom prst="rect">
            <a:avLst/>
          </a:prstGeom>
          <a:solidFill>
            <a:srgbClr val="BC8CFF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91440" cy="43891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xrAcquireSwapchainImage()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723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Get render-target texture from runtime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96896" y="32826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4754880" cy="438912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83280"/>
            <a:ext cx="91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Render Scene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210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Draw geometry for each eye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96896" y="383133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754880" cy="438912"/>
          </a:xfrm>
          <a:prstGeom prst="rect">
            <a:avLst/>
          </a:prstGeom>
          <a:solidFill>
            <a:srgbClr val="F0883E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31920"/>
            <a:ext cx="91440" cy="43891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50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xrReleaseSwapchainImage()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696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Return rendered image to runtime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96896" y="437997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480560"/>
            <a:ext cx="4754880" cy="438912"/>
          </a:xfrm>
          <a:prstGeom prst="rect">
            <a:avLst/>
          </a:prstGeom>
          <a:solidFill>
            <a:srgbClr val="FF6B6B">
              <a:alpha val="22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480560"/>
            <a:ext cx="91440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4988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xrEndFrame()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7183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Submit composition layers to compositor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1408176"/>
            <a:ext cx="0" cy="3730752"/>
          </a:xfrm>
          <a:prstGeom prst="line">
            <a:avLst/>
          </a:prstGeom>
          <a:noFill/>
          <a:ln w="19050">
            <a:solidFill>
              <a:srgbClr val="58A6F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00600" y="1408176"/>
            <a:ext cx="25603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5138928"/>
            <a:ext cx="25603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2560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</a:rPr>
              <a:t>Loop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1188720"/>
            <a:ext cx="3291840" cy="36576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760720" y="1280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Composition Layers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69280" y="1682496"/>
            <a:ext cx="3017520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6" name="Text 44"/>
          <p:cNvSpPr/>
          <p:nvPr/>
        </p:nvSpPr>
        <p:spPr>
          <a:xfrm>
            <a:off x="5779008" y="171907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XrCompositionLayerProjection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79008" y="19202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Standard stereo eye views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2249424"/>
            <a:ext cx="3017520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9" name="Text 47"/>
          <p:cNvSpPr/>
          <p:nvPr/>
        </p:nvSpPr>
        <p:spPr>
          <a:xfrm>
            <a:off x="5779008" y="228600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XrCompositionLayerQuad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79008" y="24871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Flat UI panels in world space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2816352"/>
            <a:ext cx="3017520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Text 50"/>
          <p:cNvSpPr/>
          <p:nvPr/>
        </p:nvSpPr>
        <p:spPr>
          <a:xfrm>
            <a:off x="5779008" y="28529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XrCompositionLayerCylinder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79008" y="30540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Curved surfaces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0" y="3383280"/>
            <a:ext cx="3017520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Text 53"/>
          <p:cNvSpPr/>
          <p:nvPr/>
        </p:nvSpPr>
        <p:spPr>
          <a:xfrm>
            <a:off x="5779008" y="341985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XrCompositionLayerEquirect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79008" y="36210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360° video/panoramas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3950208"/>
            <a:ext cx="3017520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8" name="Text 56"/>
          <p:cNvSpPr/>
          <p:nvPr/>
        </p:nvSpPr>
        <p:spPr>
          <a:xfrm>
            <a:off x="5779008" y="3986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XrCompositionLayerCubeKHR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779008" y="4187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Skybox /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SEQUENCE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Sequence: App ↔ Loader ↔ Runtime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411480"/>
          </a:xfrm>
          <a:prstGeom prst="rect">
            <a:avLst/>
          </a:prstGeom>
          <a:solidFill>
            <a:srgbClr val="3FB950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1920240" cy="411480"/>
          </a:xfrm>
          <a:prstGeom prst="rect">
            <a:avLst/>
          </a:prstGeom>
          <a:solidFill>
            <a:srgbClr val="58A6FF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207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 LOADER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1920240" cy="411480"/>
          </a:xfrm>
          <a:prstGeom prst="rect">
            <a:avLst/>
          </a:prstGeom>
          <a:solidFill>
            <a:srgbClr val="F0883E">
              <a:alpha val="40000"/>
            </a:srgbClr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207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XR RUNTIME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554480"/>
            <a:ext cx="0" cy="379476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206240" y="1554480"/>
            <a:ext cx="0" cy="379476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086600" y="1554480"/>
            <a:ext cx="0" cy="3794760"/>
          </a:xfrm>
          <a:prstGeom prst="line">
            <a:avLst/>
          </a:prstGeom>
          <a:noFill/>
          <a:ln w="12700">
            <a:solidFill>
              <a:srgbClr val="8B949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35024" y="1737360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645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25980" y="15179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xrCreateInstance()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15384" y="2029968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06340" y="18105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 &amp; load runtime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15384" y="2322576"/>
            <a:ext cx="286207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206240" y="2231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8CFF"/>
                </a:solidFill>
              </a:rPr>
              <a:t>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06340" y="21031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XR_SUCCESS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35024" y="2615184"/>
            <a:ext cx="286207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325880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8CFF"/>
                </a:solidFill>
              </a:rPr>
              <a:t>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25980" y="2395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XrInstance handle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35024" y="2907792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816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25980" y="26883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xrGetSystem()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15384" y="3200400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108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06340" y="29809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hardware capabilities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15384" y="3493008"/>
            <a:ext cx="286207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206240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8CFF"/>
                </a:solidFill>
              </a:rPr>
              <a:t>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06340" y="32735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XrSystemId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35024" y="3785616"/>
            <a:ext cx="286207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32588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8CFF"/>
                </a:solidFill>
              </a:rPr>
              <a:t>◀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25980" y="3566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XrSystemId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335024" y="4078224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125980" y="38587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xrCreateSession()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15384" y="4370832"/>
            <a:ext cx="286207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42793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▶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0634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graphics binding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15384" y="4663440"/>
            <a:ext cx="2862072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206240" y="4572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8CFF"/>
                </a:solidFill>
              </a:rPr>
              <a:t>◀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06340" y="4443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XrSession handle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680960" y="1920240"/>
            <a:ext cx="54864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Request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680960" y="2286000"/>
            <a:ext cx="54864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8275320" y="2194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Response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INPUT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Action-Based Input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926080" cy="34747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Abstract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743200" cy="384048"/>
          </a:xfrm>
          <a:prstGeom prst="rect">
            <a:avLst/>
          </a:prstGeom>
          <a:solidFill>
            <a:srgbClr val="3FB950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⬡  grab / release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03704"/>
            <a:ext cx="2743200" cy="384048"/>
          </a:xfrm>
          <a:prstGeom prst="rect">
            <a:avLst/>
          </a:prstGeom>
          <a:solidFill>
            <a:srgbClr val="3FB950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311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⬡  teleport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2743200" cy="384048"/>
          </a:xfrm>
          <a:prstGeom prst="rect">
            <a:avLst/>
          </a:prstGeom>
          <a:solidFill>
            <a:srgbClr val="3FB950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⬡  menu / pause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27832"/>
            <a:ext cx="2743200" cy="384048"/>
          </a:xfrm>
          <a:prstGeom prst="rect">
            <a:avLst/>
          </a:prstGeom>
          <a:solidFill>
            <a:srgbClr val="3FB950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55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⬡  aim / point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39896"/>
            <a:ext cx="2743200" cy="384048"/>
          </a:xfrm>
          <a:prstGeom prst="rect">
            <a:avLst/>
          </a:prstGeom>
          <a:solidFill>
            <a:srgbClr val="3FB950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⬡  haptic feedback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1188720"/>
            <a:ext cx="22860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1280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Interaction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Profiles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18745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oculus_touch_controller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37744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valve_index_controller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0440" y="28803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htc_vive_controller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20440" y="33832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microsoft_motion_controller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simple_controller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2926080" cy="34747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</a:rPr>
              <a:t>Physical Bindings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697480" cy="384048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17190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→ grab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203704"/>
            <a:ext cx="2697480" cy="384048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223113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thumbstick → teleport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715768"/>
            <a:ext cx="2697480" cy="384048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27432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button → menu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227832"/>
            <a:ext cx="2697480" cy="384048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144768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pose → point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739896"/>
            <a:ext cx="2697480" cy="384048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37673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vibration → haptic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18688" y="1883664"/>
            <a:ext cx="20116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24144" y="1883664"/>
            <a:ext cx="201168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18688" y="2395728"/>
            <a:ext cx="20116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24144" y="2395728"/>
            <a:ext cx="201168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8688" y="2907792"/>
            <a:ext cx="20116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24144" y="2907792"/>
            <a:ext cx="201168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8688" y="3419856"/>
            <a:ext cx="20116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24144" y="3419856"/>
            <a:ext cx="201168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18688" y="3931920"/>
            <a:ext cx="20116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24144" y="3931920"/>
            <a:ext cx="201168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xrSuggestInteractionProfileBindings()  →  xrAttachSessionActionSets()  →  xrGetActionStatePose()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EXTENSIONS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2918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KHR (Khronos Ratified)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XR_KHR_vulkan_enable2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4144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XR_KHR_composition_layer_depth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3054096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981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XR_KHR_opengl_enable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712464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581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XR_KHR_android_thread_settings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188720"/>
            <a:ext cx="2743200" cy="32918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EXT (Multi-Vendor)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5848" y="1737360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830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XR_EXT_hand_tracking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5848" y="2395728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4144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XR_EXT_eye_gaze_interaction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3054096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09981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XR_EXT_performance_settings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3712464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7581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XR_EXT_thermal_query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188720"/>
            <a:ext cx="274320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Vendor (FB / META)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27648" y="1737360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8308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XR_FB_passthrough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27648" y="2395728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44144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XR_FB_scene_capture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27648" y="3054096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099816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XR_META_performance_metrics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3712464"/>
            <a:ext cx="2523744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75818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XR_META_spatial_entity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 are enabled via  xrCreateInstance() →  enabledExtensionNames[]  and checked at runtime with  xrEnumerateInstanceExtensionProperties()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FULL API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API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4114800" cy="36118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4114800" cy="347472"/>
          </a:xfrm>
          <a:prstGeom prst="rect">
            <a:avLst/>
          </a:prstGeom>
          <a:solidFill>
            <a:srgbClr val="3FB95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 INITIALIZATION PHASE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6093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xrCreateInstance()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048256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20848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xrGetSystem()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523744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560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xrCreateSession()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999232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30358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xrCreateReferenceSpace()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474720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3511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xrCreateSwapchain()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950208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xrAttachSessionActionSets()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152144"/>
            <a:ext cx="4206240" cy="36118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52144"/>
            <a:ext cx="4206240" cy="347472"/>
          </a:xfrm>
          <a:prstGeom prst="rect">
            <a:avLst/>
          </a:prstGeom>
          <a:solidFill>
            <a:srgbClr val="58A6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PER-FRAME RENDER 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1572768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160934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xrPollEvent()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1956816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19933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xrSyncActions()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2340864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4882896" y="237744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xrWaitFrame()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2724912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276148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xrLocateViews()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108960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314553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xrBeginFrame()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3493008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352958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xrAcquireSwapchainImage()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3877056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Text 34"/>
          <p:cNvSpPr/>
          <p:nvPr/>
        </p:nvSpPr>
        <p:spPr>
          <a:xfrm>
            <a:off x="4882896" y="391363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xrReleaseSwapchainImage()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4261104"/>
            <a:ext cx="3950208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8" name="Text 36"/>
          <p:cNvSpPr/>
          <p:nvPr/>
        </p:nvSpPr>
        <p:spPr>
          <a:xfrm>
            <a:off x="4882896" y="42976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xrEndFrame()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Teardown:  xrEndSession()  →  xrDestroySession()  →  xrDestroyInstance()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/  ECOSYSTEM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Engine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F0883E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Hardware Runtimes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801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Meta Quest 2 / 3 / Pro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2768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Valve Index (SteamVR)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7523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HoloLens 2 (WMR)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2278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PlayStation VR2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Varjo XR-4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178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Pico 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3FB950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Game Engines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184708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3648456" y="1801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Unity (XR Plugin Mgr)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2322576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3648456" y="22768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Unreal Engine 5+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29000" y="2798064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3648456" y="27523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Godot 4 (native)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327355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3648456" y="32278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O3DE (Open 3D)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29000" y="3749040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2" name="Text 30"/>
          <p:cNvSpPr/>
          <p:nvPr/>
        </p:nvSpPr>
        <p:spPr>
          <a:xfrm>
            <a:off x="3648456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CryEngine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29000" y="4224528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4" name="Text 32"/>
          <p:cNvSpPr/>
          <p:nvPr/>
        </p:nvSpPr>
        <p:spPr>
          <a:xfrm>
            <a:off x="3648456" y="4178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Custom C++ apps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1188720"/>
            <a:ext cx="2743200" cy="35661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58A6FF">
              <a:alpha val="4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1280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Graphics APIs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0" y="1847088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620256" y="18013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Vulkan (KHR)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0" y="2322576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1" name="Text 39"/>
          <p:cNvSpPr/>
          <p:nvPr/>
        </p:nvSpPr>
        <p:spPr>
          <a:xfrm>
            <a:off x="6620256" y="22768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OpenGL (KHR)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0" y="2798064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20256" y="27523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OpenGL ES (KHR)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0" y="3273552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5" name="Text 43"/>
          <p:cNvSpPr/>
          <p:nvPr/>
        </p:nvSpPr>
        <p:spPr>
          <a:xfrm>
            <a:off x="6620256" y="32278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Direct3D 11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749040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7" name="Text 45"/>
          <p:cNvSpPr/>
          <p:nvPr/>
        </p:nvSpPr>
        <p:spPr>
          <a:xfrm>
            <a:off x="6620256" y="3703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Direct3D 12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0" y="4224528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6620256" y="4178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WebXR (browser)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58A6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3FB95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7432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91440" cy="7498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075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Single API — Write once, deploy to Meta, SteamVR, WMR, Pico and more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91440" cy="7498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3075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Layered Architecture — App → Loader → API Layers → Runtime → Hardware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91440" cy="7498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2219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Action-Based Input — Decoupled from hardware; automatic cross-device binding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1488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148840"/>
            <a:ext cx="91440" cy="7498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</a:rPr>
              <a:t>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22219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Compositing — Multiple layer types: Projection, Quad, Cylinder, Equirect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63240"/>
            <a:ext cx="91440" cy="7498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1363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Extensions — Vendor + EXT + KHR namespace; hand tracking, passthrough, eye gaze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63240"/>
            <a:ext cx="4160520" cy="74980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063240"/>
            <a:ext cx="91440" cy="7498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3136392"/>
            <a:ext cx="3611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Industry standard — Khronos-backed, adopted by Meta, Valve, Microsoft, Sony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OpenXR is to XR what Vulkan is to graphics — open, performant, and vendor-neutral.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2026-03-15T12:52:07Z</dcterms:created>
  <dcterms:modified xsi:type="dcterms:W3CDTF">2026-03-15T12:52:07Z</dcterms:modified>
</cp:coreProperties>
</file>